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Tracking</c:v>
                  </c:pt>
                  <c:pt idx="1">
                    <c:v>Planning</c:v>
                  </c:pt>
                  <c:pt idx="2">
                    <c:v>Mobile</c:v>
                  </c:pt>
                  <c:pt idx="3">
                    <c:v>Analytics</c:v>
                  </c:pt>
                  <c:pt idx="4">
                    <c:v>Services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194400</c:v>
                </c:pt>
                <c:pt idx="1">
                  <c:v>91000</c:v>
                </c:pt>
                <c:pt idx="2">
                  <c:v>67500</c:v>
                </c:pt>
                <c:pt idx="3">
                  <c:v>42600</c:v>
                </c:pt>
                <c:pt idx="4">
                  <c:v>17000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63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l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194560" cy="58521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94560"/>
            <a:ext cx="69494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img/seller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51560" cy="2834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1945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Fleet modernization proposal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794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Prepared for Kestrel Logistics</a:t>
            </a:r>
            <a:endParaRPr lang="en-US" sz="2200" dirty="0"/>
          </a:p>
        </p:txBody>
      </p:sp>
      <p:sp>
        <p:nvSpPr>
          <p:cNvPr id="4" name="Prepared by"/>
          <p:cNvSpPr txBox="1"/>
          <p:nvPr/>
        </p:nvSpPr>
        <p:spPr>
          <a:xfrm>
            <a:off x="548640" y="4663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Dana Whitfield · Account Executive · 4 October 2026</a:t>
            </a:r>
            <a:endParaRPr lang="en-US" sz="1400" dirty="0"/>
          </a:p>
        </p:txBody>
      </p:sp>
      <p:pic>
        <p:nvPicPr>
          <p:cNvPr id="5" name="Customer logo" descr="Customer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20116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6304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value 1"/>
          <p:cNvSpPr txBox="1"/>
          <p:nvPr/>
        </p:nvSpPr>
        <p:spPr>
          <a:xfrm>
            <a:off x="82296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$412,500</a:t>
            </a:r>
            <a:endParaRPr lang="en-US" sz="3600" dirty="0"/>
          </a:p>
        </p:txBody>
      </p:sp>
      <p:sp>
        <p:nvSpPr>
          <p:cNvPr id="5" name="Stat label 1"/>
          <p:cNvSpPr txBox="1"/>
          <p:nvPr/>
        </p:nvSpPr>
        <p:spPr>
          <a:xfrm>
            <a:off x="82296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Total investment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4297680" y="146304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alue 2"/>
          <p:cNvSpPr txBox="1"/>
          <p:nvPr/>
        </p:nvSpPr>
        <p:spPr>
          <a:xfrm>
            <a:off x="457200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</a:t>
            </a:r>
            <a:endParaRPr lang="en-US" sz="3600" dirty="0"/>
          </a:p>
        </p:txBody>
      </p:sp>
      <p:sp>
        <p:nvSpPr>
          <p:cNvPr id="8" name="Stat label 2"/>
          <p:cNvSpPr txBox="1"/>
          <p:nvPr/>
        </p:nvSpPr>
        <p:spPr>
          <a:xfrm>
            <a:off x="457200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Solutions in scope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8046720" y="146304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value 3"/>
          <p:cNvSpPr txBox="1"/>
          <p:nvPr/>
        </p:nvSpPr>
        <p:spPr>
          <a:xfrm>
            <a:off x="832104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30 Nov 2026</a:t>
            </a:r>
            <a:endParaRPr lang="en-US" sz="3600" dirty="0"/>
          </a:p>
        </p:txBody>
      </p:sp>
      <p:sp>
        <p:nvSpPr>
          <p:cNvPr id="11" name="Stat label 3"/>
          <p:cNvSpPr txBox="1"/>
          <p:nvPr/>
        </p:nvSpPr>
        <p:spPr>
          <a:xfrm>
            <a:off x="832104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Target go-live decision</a:t>
            </a:r>
            <a:endParaRPr lang="en-US" sz="1400" dirty="0"/>
          </a:p>
        </p:txBody>
      </p:sp>
      <p:sp>
        <p:nvSpPr>
          <p:cNvPr id="12" name="Summary"/>
          <p:cNvSpPr txBox="1"/>
          <p:nvPr/>
        </p:nvSpPr>
        <p:spPr>
          <a:xfrm>
            <a:off x="548640" y="35661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Kestrel Logistics runs 1,200 vehicles across 14 depots.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This proposal replaces three separate tracking tools with one platform, cuts route planning time and gives operations one view of the fleet.</a:t>
            </a:r>
            <a:endParaRPr lang="en-US" sz="1600" dirty="0"/>
          </a:p>
        </p:txBody>
      </p:sp>
      <p:sp>
        <p:nvSpPr>
          <p:cNvPr id="13" name="Owner note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Dana Whitfield will be your main contact through rollout.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Investment summary</a:t>
            </a:r>
            <a:endParaRPr lang="en-US" sz="3200" dirty="0"/>
          </a:p>
        </p:txBody>
      </p:sp>
      <p:sp>
        <p:nvSpPr>
          <p:cNvPr id="3" name="Price note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Prices in USD. Valid for 30 days.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Investment by solution area</a:t>
            </a:r>
            <a:endParaRPr lang="en-US" sz="3200" dirty="0"/>
          </a:p>
        </p:txBody>
      </p:sp>
      <p:graphicFrame>
        <p:nvGraphicFramePr>
          <p:cNvPr id="3" name="Spend chart" descr=""/>
          <p:cNvGraphicFramePr/>
          <p:nvPr/>
        </p:nvGraphicFramePr>
        <p:xfrm>
          <a:off x="548640" y="13716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card"/>
          <p:cNvSpPr/>
          <p:nvPr/>
        </p:nvSpPr>
        <p:spPr>
          <a:xfrm>
            <a:off x="7955280" y="1463040"/>
            <a:ext cx="3657600" cy="44805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llout text"/>
          <p:cNvSpPr txBox="1"/>
          <p:nvPr/>
        </p:nvSpPr>
        <p:spPr>
          <a:xfrm>
            <a:off x="8229600" y="173736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Tracking is 47% of spend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Fleet Tracker covers all 1,200 vehicles from day one. Analytics and services scale with adoption.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Fleet Tracker</a:t>
            </a:r>
            <a:endParaRPr lang="en-US" sz="3200" dirty="0"/>
          </a:p>
        </p:txBody>
      </p:sp>
      <p:pic>
        <p:nvPicPr>
          <p:cNvPr id="3" name="Product image" descr="Product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86400" cy="4114800"/>
          </a:xfrm>
          <a:prstGeom prst="rect">
            <a:avLst/>
          </a:prstGeom>
        </p:spPr>
      </p:pic>
      <p:sp>
        <p:nvSpPr>
          <p:cNvPr id="4" name="Product description"/>
          <p:cNvSpPr txBox="1"/>
          <p:nvPr/>
        </p:nvSpPr>
        <p:spPr>
          <a:xfrm>
            <a:off x="6492240" y="14630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Live GPS, geofencing and driver safety scores for every vehicle, with alerts sent to dispatch in seconds.</a:t>
            </a:r>
            <a:endParaRPr lang="en-US" sz="1800" dirty="0"/>
          </a:p>
        </p:txBody>
      </p:sp>
      <p:sp>
        <p:nvSpPr>
          <p:cNvPr id="5" name="Product figures"/>
          <p:cNvSpPr txBox="1"/>
          <p:nvPr/>
        </p:nvSpPr>
        <p:spPr>
          <a:xfrm>
            <a:off x="6492240" y="36576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748B"/>
                </a:solidFill>
              </a:rPr>
              <a:t>Quantity 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1,200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748B"/>
                </a:solidFill>
              </a:rPr>
              <a:t>Line total 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$194,400.00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Multi-year terms</a:t>
            </a:r>
            <a:endParaRPr lang="en-US" sz="3200" dirty="0"/>
          </a:p>
        </p:txBody>
      </p:sp>
      <p:sp>
        <p:nvSpPr>
          <p:cNvPr id="3" name="Terms card"/>
          <p:cNvSpPr/>
          <p:nvPr/>
        </p:nvSpPr>
        <p:spPr>
          <a:xfrm>
            <a:off x="548640" y="146304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4" name="Terms text"/>
          <p:cNvSpPr txBox="1"/>
          <p:nvPr/>
        </p:nvSpPr>
        <p:spPr>
          <a:xfrm>
            <a:off x="914400" y="173736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9A4A12"/>
                </a:solidFill>
              </a:rPr>
              <a:t>3-year commitment, 10% discount on Fleet Tracker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Pricing is locked for the term. Annual true-up for vehicles added after go-live.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Next steps</a:t>
            </a:r>
            <a:endParaRPr lang="en-US" sz="3200" dirty="0"/>
          </a:p>
        </p:txBody>
      </p:sp>
      <p:sp>
        <p:nvSpPr>
          <p:cNvPr id="3" name="Step 1 badge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548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Step 1 text"/>
          <p:cNvSpPr txBox="1"/>
          <p:nvPr/>
        </p:nvSpPr>
        <p:spPr>
          <a:xfrm>
            <a:off x="1554480" y="141732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Technical review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Your IT team and our solutions engineer, week of 12 October</a:t>
            </a:r>
            <a:endParaRPr lang="en-US" sz="1800" dirty="0"/>
          </a:p>
        </p:txBody>
      </p:sp>
      <p:sp>
        <p:nvSpPr>
          <p:cNvPr id="6" name="Step 2 badge"/>
          <p:cNvSpPr/>
          <p:nvPr/>
        </p:nvSpPr>
        <p:spPr>
          <a:xfrm>
            <a:off x="548640" y="2697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tep 2 number"/>
          <p:cNvSpPr txBox="1"/>
          <p:nvPr/>
        </p:nvSpPr>
        <p:spPr>
          <a:xfrm>
            <a:off x="54864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Step 2 text"/>
          <p:cNvSpPr txBox="1"/>
          <p:nvPr/>
        </p:nvSpPr>
        <p:spPr>
          <a:xfrm>
            <a:off x="1554480" y="26517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Pilot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Two depots, 150 vehicles, four weeks</a:t>
            </a:r>
            <a:endParaRPr lang="en-US" sz="1800" dirty="0"/>
          </a:p>
        </p:txBody>
      </p:sp>
      <p:sp>
        <p:nvSpPr>
          <p:cNvPr id="9" name="Step 3 badge"/>
          <p:cNvSpPr/>
          <p:nvPr/>
        </p:nvSpPr>
        <p:spPr>
          <a:xfrm>
            <a:off x="548640" y="3931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 3 number"/>
          <p:cNvSpPr txBox="1"/>
          <p:nvPr/>
        </p:nvSpPr>
        <p:spPr>
          <a:xfrm>
            <a:off x="54864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Step 3 text"/>
          <p:cNvSpPr txBox="1"/>
          <p:nvPr/>
        </p:nvSpPr>
        <p:spPr>
          <a:xfrm>
            <a:off x="1554480" y="38862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Decision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Contract signature by 30 November 2026</a:t>
            </a:r>
            <a:endParaRPr lang="en-US" sz="1800" dirty="0"/>
          </a:p>
        </p:txBody>
      </p:sp>
      <p:sp>
        <p:nvSpPr>
          <p:cNvPr id="12" name="Contact card"/>
          <p:cNvSpPr/>
          <p:nvPr/>
        </p:nvSpPr>
        <p:spPr>
          <a:xfrm>
            <a:off x="7955280" y="1463040"/>
            <a:ext cx="365760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ontact text"/>
          <p:cNvSpPr txBox="1"/>
          <p:nvPr/>
        </p:nvSpPr>
        <p:spPr>
          <a:xfrm>
            <a:off x="8229600" y="173736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Your contact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Dana Whitfield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Account Executive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dana.whitfield@halcyon.example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+1 555 0100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cyon">
  <a:themeElements>
    <a:clrScheme name="Halcyon">
      <a:dk1>
        <a:srgbClr val="1B2631"/>
      </a:dk1>
      <a:lt1>
        <a:srgbClr val="FFFFFF"/>
      </a:lt1>
      <a:dk2>
        <a:srgbClr val="0B3954"/>
      </a:dk2>
      <a:lt2>
        <a:srgbClr val="EEF3F6"/>
      </a:lt2>
      <a:accent1>
        <a:srgbClr val="065A82"/>
      </a:accent1>
      <a:accent2>
        <a:srgbClr val="F4A261"/>
      </a:accent2>
      <a:accent3>
        <a:srgbClr val="2A9D8F"/>
      </a:accent3>
      <a:accent4>
        <a:srgbClr val="E76F51"/>
      </a:accent4>
      <a:accent5>
        <a:srgbClr val="1C7293"/>
      </a:accent5>
      <a:accent6>
        <a:srgbClr val="264653"/>
      </a:accent6>
      <a:hlink>
        <a:srgbClr val="065A82"/>
      </a:hlink>
      <a:folHlink>
        <a:srgbClr val="1C7293"/>
      </a:folHlink>
    </a:clrScheme>
    <a:fontScheme name="Halcy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Halcyon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 modernization proposal</dc:title>
  <dc:subject>PptxGenJS Presentation</dc:subject>
  <dc:creator>Halcyon Sales</dc:creator>
  <cp:lastModifiedBy>Halcyon Sales</cp:lastModifiedBy>
  <cp:revision>1</cp:revision>
  <dcterms:created xsi:type="dcterms:W3CDTF">2026-10-04T15:26:45Z</dcterms:created>
  <dcterms:modified xsi:type="dcterms:W3CDTF">2026-10-04T15:26:45Z</dcterms:modified>
</cp:coreProperties>
</file>